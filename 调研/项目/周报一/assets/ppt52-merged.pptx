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9659600" cy="109728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7.png"/><Relationship Id="rId1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96350" y="9801225"/>
            <a:ext cx="1743075" cy="5143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62450" y="2914650"/>
            <a:ext cx="11058525" cy="669607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" y="9525"/>
            <a:ext cx="7648575" cy="419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57250" y="988695"/>
            <a:ext cx="18521839" cy="17183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1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Circle CCTP: The Architecture of Native Global Liquidity</a:t>
            </a:r>
            <a:r>
              <a:rPr lang="en-US" sz="51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Unifying the Multi-Chain Ecosystem through Native Settlement</a:t>
            </a:r>
            <a:endParaRPr lang="en-US" sz="51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9659600" cy="1097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5825" y="1743075"/>
            <a:ext cx="17868900" cy="795337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95334" y="610552"/>
            <a:ext cx="14640116" cy="81724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87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End of Fragmentation: Why CCTP Matters</a:t>
            </a:r>
            <a:endParaRPr lang="en-US" sz="487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037641" y="4780597"/>
            <a:ext cx="1973008" cy="8591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5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Wrapped Asset Risk</a:t>
            </a:r>
            <a:endParaRPr lang="en-US" sz="255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078552" y="4094797"/>
            <a:ext cx="1647349" cy="12782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7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Native Asset Security</a:t>
            </a:r>
            <a:endParaRPr lang="en-US" sz="247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0225" y="7292340"/>
            <a:ext cx="7959661" cy="9220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Problem:</a:t>
            </a: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The 'lock-and-mint' model fractured liquidity and created vulnerable 'wrapped' assets.
</a:t>
            </a:r>
            <a:r>
              <a:rPr lang="en-US" sz="27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Solution:</a:t>
            </a: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CCTP enables native teleportation of USDC, eliminating bridge honeypots.</a:t>
            </a:r>
            <a:endParaRPr lang="en-US" sz="27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458450" y="7291388"/>
            <a:ext cx="7570375" cy="9429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7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eliminatingbridgehoneypots.</a:t>
            </a:r>
            <a:endParaRPr lang="en-US" sz="277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477500" y="8416290"/>
            <a:ext cx="7731061" cy="9220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Benefit:</a:t>
            </a: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Removes slippage and security risks by avoiding liquidity pools on bridge contracts.</a:t>
            </a:r>
            <a:endParaRPr lang="en-US" sz="27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81473" y="9823133"/>
            <a:ext cx="15577851" cy="56578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37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Goal:</a:t>
            </a:r>
            <a:r>
              <a:rPr lang="en-US" sz="337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By Dec 2025, CCTP becomes the unified circulatory system for digital dollars.</a:t>
            </a:r>
            <a:endParaRPr lang="en-US" sz="337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039600" y="9267825"/>
            <a:ext cx="942975" cy="7810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95975" y="9229725"/>
            <a:ext cx="1733550" cy="6286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230475" y="9220200"/>
            <a:ext cx="1685925" cy="6667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47975" y="9201150"/>
            <a:ext cx="1504950" cy="67627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705225" y="5086350"/>
            <a:ext cx="590550" cy="37147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25" y="2381250"/>
            <a:ext cx="19640550" cy="65722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811000" y="2162175"/>
            <a:ext cx="7839075" cy="282892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525" y="2133600"/>
            <a:ext cx="7829550" cy="279082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27875" y="848201"/>
            <a:ext cx="18198274" cy="82772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Architectural Overview: On-Chain &amp; Off-Chain Harmony</a:t>
            </a:r>
            <a:endParaRPr lang="en-US" sz="495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375207" y="2017395"/>
            <a:ext cx="4664393" cy="4610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6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Off-Chain Attestation Service</a:t>
            </a:r>
            <a:endParaRPr lang="en-US" sz="262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963650" y="2678430"/>
            <a:ext cx="4696968" cy="100584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9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Off-Chain Layer:</a:t>
            </a:r>
            <a:r>
              <a:rPr lang="en-US" sz="19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Circle's centralized Attestation Service acts as the vigilant notary.</a:t>
            </a:r>
            <a:endParaRPr lang="en-US" sz="195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944600" y="3836194"/>
            <a:ext cx="4921377" cy="68103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0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Security:</a:t>
            </a:r>
            <a:r>
              <a:rPr lang="en-US" sz="20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Eliminates complex consensus mechanisms between chains.</a:t>
            </a:r>
            <a:endParaRPr lang="en-US" sz="20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755707" y="6228398"/>
            <a:ext cx="2626043" cy="4400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6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On-Chain Layer</a:t>
            </a:r>
            <a:endParaRPr lang="en-US" sz="262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157984" y="8249602"/>
            <a:ext cx="2509266" cy="39814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TokenMessenger</a:t>
            </a:r>
            <a:endParaRPr lang="en-US" sz="23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276755" y="8239601"/>
            <a:ext cx="2981420" cy="40862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MessageTransmitter</a:t>
            </a:r>
            <a:endParaRPr lang="en-US" sz="24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052108" y="6227921"/>
            <a:ext cx="2606993" cy="45053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6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On-Chain Layer</a:t>
            </a:r>
            <a:endParaRPr lang="en-US" sz="262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66900" y="9055418"/>
            <a:ext cx="6844189" cy="13201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9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Permissionless smart contracts deployed on blockchains. </a:t>
            </a:r>
            <a:r>
              <a:rPr lang="en-US" sz="19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TokenMessenger:</a:t>
            </a:r>
            <a:r>
              <a:rPr lang="en-US" sz="19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Handles user intent and routing. </a:t>
            </a:r>
            <a:r>
              <a:rPr lang="en-US" sz="19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MessageTransmitter:</a:t>
            </a:r>
            <a:r>
              <a:rPr lang="en-US" sz="19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Manages low-level messaging and signature verification.</a:t>
            </a:r>
            <a:endParaRPr lang="en-US" sz="195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340085" y="8249602"/>
            <a:ext cx="2518791" cy="39814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TokenMessenger</a:t>
            </a:r>
            <a:endParaRPr lang="en-US" sz="23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535055" y="8239601"/>
            <a:ext cx="2971895" cy="40862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MessageTransmitter</a:t>
            </a:r>
            <a:endParaRPr lang="en-US" sz="24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20450" y="9055418"/>
            <a:ext cx="6834664" cy="13201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9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Permissionless smart contracts deployed on blockchains. </a:t>
            </a:r>
            <a:r>
              <a:rPr lang="en-US" sz="19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TokenMessenger:</a:t>
            </a:r>
            <a:r>
              <a:rPr lang="en-US" sz="19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Handles user intent and routing. </a:t>
            </a:r>
            <a:r>
              <a:rPr lang="en-US" sz="19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MessageTransmitter:</a:t>
            </a:r>
            <a:r>
              <a:rPr lang="en-US" sz="19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Manages low-level messaging and signature verification.</a:t>
            </a:r>
            <a:endParaRPr lang="en-US" sz="195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496925" y="6858000"/>
            <a:ext cx="1666875" cy="199072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950" y="2971800"/>
            <a:ext cx="3810000" cy="28003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9625" y="2857500"/>
            <a:ext cx="1219200" cy="120967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29275" y="2085975"/>
            <a:ext cx="9467850" cy="799147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5249525" y="1676400"/>
            <a:ext cx="1143000" cy="12001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675" y="6924675"/>
            <a:ext cx="1181100" cy="1428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14400" y="1044892"/>
            <a:ext cx="12183047" cy="9010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3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Step 1: The Source Chain Burn</a:t>
            </a:r>
            <a:endParaRPr lang="en-US" sz="532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76450" y="2919889"/>
            <a:ext cx="2344769" cy="51339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Initiation</a:t>
            </a:r>
            <a:endParaRPr lang="en-US" sz="300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38350" y="3388043"/>
            <a:ext cx="3494913" cy="17392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>
                <a:solidFill>
                  <a:srgbClr val="D2D2D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 interacts with TokenMessenger specifying amount and destination.</a:t>
            </a:r>
            <a:endParaRPr lang="en-US" sz="2475">
              <a:solidFill>
                <a:srgbClr val="D2D2D2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92736" y="4312920"/>
            <a:ext cx="3098863" cy="108966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2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Concept: 'Burn' ≠ 'Lock'</a:t>
            </a:r>
            <a:endParaRPr lang="en-US" sz="322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316200" y="2917507"/>
            <a:ext cx="2459069" cy="56578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Signaling</a:t>
            </a:r>
            <a:endParaRPr lang="en-US" sz="300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297150" y="3388995"/>
            <a:ext cx="3742563" cy="17183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>
                <a:solidFill>
                  <a:srgbClr val="D2D2D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MessageTransmitter emits a specific log event signaling valid asset destruction.</a:t>
            </a:r>
            <a:endParaRPr lang="en-US" sz="2475">
              <a:solidFill>
                <a:srgbClr val="D2D2D2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057400" y="7063740"/>
            <a:ext cx="2401919" cy="5029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Burn</a:t>
            </a:r>
            <a:endParaRPr lang="en-US" sz="300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38350" y="7525226"/>
            <a:ext cx="3104388" cy="208502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>
                <a:solidFill>
                  <a:srgbClr val="D2D2D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Tokens are immediately and permanently destroyed, not locked.</a:t>
            </a:r>
            <a:endParaRPr lang="en-US" sz="2475">
              <a:solidFill>
                <a:srgbClr val="D2D2D2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316200" y="6977539"/>
            <a:ext cx="1982819" cy="51339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Impact</a:t>
            </a:r>
            <a:endParaRPr lang="en-US" sz="300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3214558" name="TextBox 18"/>
          <p:cNvSpPr txBox="1"/>
          <p:nvPr/>
        </p:nvSpPr>
        <p:spPr>
          <a:xfrm>
            <a:off x="15297150" y="7426643"/>
            <a:ext cx="3647313" cy="17392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>
                <a:solidFill>
                  <a:srgbClr val="D2D2D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Mathematically final
removal from the
source chain's
circulating supply.</a:t>
            </a:r>
            <a:endParaRPr lang="en-US" sz="2475">
              <a:solidFill>
                <a:srgbClr val="D2D2D2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2950" y="8629650"/>
            <a:ext cx="1428750" cy="148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924925" y="5048250"/>
            <a:ext cx="857250" cy="6286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15625" y="4238625"/>
            <a:ext cx="561975" cy="45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8200" y="3762375"/>
            <a:ext cx="1295400" cy="115252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58075" y="9525"/>
            <a:ext cx="12192000" cy="109537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90575" y="8715375"/>
            <a:ext cx="1362075" cy="13144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57250" y="7000875"/>
            <a:ext cx="1247775" cy="131445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57250" y="5324475"/>
            <a:ext cx="1285875" cy="12763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14400" y="735806"/>
            <a:ext cx="10770394" cy="183356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475" b="1">
                <a:solidFill>
                  <a:srgbClr val="FFFFFF">
                    <a:alpha val="100000"/>
                  </a:srgbClr>
                </a:solidFill>
                <a:latin typeface="Inter"/>
                <a:ea typeface="Inter"/>
                <a:cs typeface="Inter"/>
              </a:rPr>
              <a:t>Step 2: Verification by the Attestation Service</a:t>
            </a:r>
            <a:endParaRPr lang="en-US" sz="5475" b="1">
              <a:solidFill>
                <a:srgbClr val="FFFFFF">
                  <a:alpha val="100000"/>
                </a:srgbClr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52500" y="2581275"/>
            <a:ext cx="3483483" cy="6286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750">
                <a:solidFill>
                  <a:srgbClr val="C8C8C8">
                    <a:alpha val="100000"/>
                  </a:srgbClr>
                </a:solidFill>
                <a:latin typeface="Inter"/>
                <a:ea typeface="Inter"/>
                <a:cs typeface="Inter"/>
              </a:rPr>
              <a:t>Inter Regular</a:t>
            </a:r>
            <a:endParaRPr lang="en-US" sz="3750">
              <a:solidFill>
                <a:srgbClr val="C8C8C8">
                  <a:alpha val="100000"/>
                </a:srgbClr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28850" y="3759041"/>
            <a:ext cx="6611493" cy="112109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225" b="1">
                <a:solidFill>
                  <a:srgbClr val="FFFFFF">
                    <a:alpha val="100000"/>
                  </a:srgbClr>
                </a:solidFill>
                <a:latin typeface="Inter"/>
                <a:ea typeface="Inter"/>
                <a:cs typeface="Inter"/>
              </a:rPr>
              <a:t>Monitoring:</a:t>
            </a:r>
            <a:r>
              <a:rPr lang="en-US" sz="3225">
                <a:solidFill>
                  <a:srgbClr val="FFFFFF">
                    <a:alpha val="100000"/>
                  </a:srgbClr>
                </a:solidFill>
                <a:latin typeface="Inter"/>
                <a:ea typeface="Inter"/>
                <a:cs typeface="Inter"/>
              </a:rPr>
              <a:t> Circle continuously scans for specific burn log events.</a:t>
            </a:r>
            <a:endParaRPr lang="en-US" sz="3225">
              <a:solidFill>
                <a:srgbClr val="FFFFFF">
                  <a:alpha val="100000"/>
                </a:srgbClr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209800" y="5398770"/>
            <a:ext cx="7125843" cy="108966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225" b="1">
                <a:solidFill>
                  <a:srgbClr val="FFFFFF">
                    <a:alpha val="100000"/>
                  </a:srgbClr>
                </a:solidFill>
                <a:latin typeface="Inter"/>
                <a:ea typeface="Inter"/>
                <a:cs typeface="Inter"/>
              </a:rPr>
              <a:t>Safety:</a:t>
            </a:r>
            <a:r>
              <a:rPr lang="en-US" sz="3225">
                <a:solidFill>
                  <a:srgbClr val="FFFFFF">
                    <a:alpha val="100000"/>
                  </a:srgbClr>
                </a:solidFill>
                <a:latin typeface="Inter"/>
                <a:ea typeface="Inter"/>
                <a:cs typeface="Inter"/>
              </a:rPr>
              <a:t> Waits for block confirmations to prevent reorganization attacks.</a:t>
            </a:r>
            <a:endParaRPr lang="en-US" sz="3225">
              <a:solidFill>
                <a:srgbClr val="FFFFFF">
                  <a:alpha val="100000"/>
                </a:srgbClr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228850" y="7131368"/>
            <a:ext cx="7554468" cy="111061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225" b="1">
                <a:solidFill>
                  <a:srgbClr val="FFFFFF">
                    <a:alpha val="100000"/>
                  </a:srgbClr>
                </a:solidFill>
                <a:latin typeface="Inter"/>
                <a:ea typeface="Inter"/>
                <a:cs typeface="Inter"/>
              </a:rPr>
              <a:t>Attestation:</a:t>
            </a:r>
            <a:r>
              <a:rPr lang="en-US" sz="3225">
                <a:solidFill>
                  <a:srgbClr val="FFFFFF">
                    <a:alpha val="100000"/>
                  </a:srgbClr>
                </a:solidFill>
                <a:latin typeface="Inter"/>
                <a:ea typeface="Inter"/>
                <a:cs typeface="Inter"/>
              </a:rPr>
              <a:t> Generates a cryptographic signature using Circle's private key.</a:t>
            </a:r>
            <a:endParaRPr lang="en-US" sz="3225">
              <a:solidFill>
                <a:srgbClr val="FFFFFF">
                  <a:alpha val="100000"/>
                </a:srgbClr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209800" y="8837771"/>
            <a:ext cx="7230618" cy="107918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225" b="1">
                <a:solidFill>
                  <a:srgbClr val="FFFFFF">
                    <a:alpha val="100000"/>
                  </a:srgbClr>
                </a:solidFill>
                <a:latin typeface="Inter"/>
                <a:ea typeface="Inter"/>
                <a:cs typeface="Inter"/>
              </a:rPr>
              <a:t>Result:</a:t>
            </a:r>
            <a:r>
              <a:rPr lang="en-US" sz="3225">
                <a:solidFill>
                  <a:srgbClr val="FFFFFF">
                    <a:alpha val="100000"/>
                  </a:srgbClr>
                </a:solidFill>
                <a:latin typeface="Inter"/>
                <a:ea typeface="Inter"/>
                <a:cs typeface="Inter"/>
              </a:rPr>
              <a:t> An irrefutable ‘permission slip’ proving the burn occurred.</a:t>
            </a:r>
            <a:endParaRPr lang="en-US" sz="3225">
              <a:solidFill>
                <a:srgbClr val="FFFFFF">
                  <a:alpha val="100000"/>
                </a:srgbClr>
              </a:solidFill>
              <a:latin typeface="Inter"/>
              <a:ea typeface="Inter"/>
              <a:cs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44125" y="7600950"/>
            <a:ext cx="8058150" cy="20383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39400" y="5448300"/>
            <a:ext cx="828675" cy="800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04950" y="2095500"/>
            <a:ext cx="8667750" cy="838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9640550" cy="1095375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420350" y="4257675"/>
            <a:ext cx="866775" cy="8953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420350" y="6543675"/>
            <a:ext cx="933450" cy="9334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467975" y="3114675"/>
            <a:ext cx="762000" cy="8953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886010" y="1105852"/>
            <a:ext cx="11458766" cy="81724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87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Step 3: The Destination Chain Mint</a:t>
            </a:r>
            <a:endParaRPr lang="en-US" sz="487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344275" y="3098482"/>
            <a:ext cx="6839331" cy="98488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925" b="1">
                <a:solidFill>
                  <a:srgbClr val="B0BED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Presentation:</a:t>
            </a:r>
            <a:r>
              <a:rPr lang="en-US" sz="29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The signed Attestation is submitted to the MessageTransmitter.</a:t>
            </a:r>
            <a:endParaRPr lang="en-US" sz="29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344275" y="4220528"/>
            <a:ext cx="6277356" cy="102679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925" b="1">
                <a:solidFill>
                  <a:srgbClr val="B0BED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Verification:</a:t>
            </a:r>
            <a:r>
              <a:rPr lang="en-US" sz="29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Contract validates the signature against Circle's public key.</a:t>
            </a:r>
            <a:endParaRPr lang="en-US" sz="29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53800" y="5383530"/>
            <a:ext cx="6896481" cy="100584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925" b="1">
                <a:solidFill>
                  <a:srgbClr val="B0BED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Minting:</a:t>
            </a:r>
            <a:r>
              <a:rPr lang="en-US" sz="29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TokenMessenger mints equivalent native USDC to the recipient.</a:t>
            </a:r>
            <a:endParaRPr lang="en-US" sz="29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344275" y="6507480"/>
            <a:ext cx="6763131" cy="100584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925" b="1">
                <a:solidFill>
                  <a:srgbClr val="B0BED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Macro Economics:</a:t>
            </a:r>
            <a:r>
              <a:rPr lang="en-US" sz="29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Maintains global 1:1 backing without synthetic derivatives.</a:t>
            </a:r>
            <a:endParaRPr lang="en-US" sz="29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719149" y="8252460"/>
            <a:ext cx="6463951" cy="75438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Burned = 1 Minted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34150" y="8953500"/>
            <a:ext cx="8229600" cy="1828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67225" y="4181475"/>
            <a:ext cx="2371725" cy="267652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00150" y="2181225"/>
            <a:ext cx="18449925" cy="70199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14375" y="684371"/>
            <a:ext cx="12379357" cy="86963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17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Integration Case Study: Wormhole</a:t>
            </a:r>
            <a:endParaRPr lang="en-US" sz="517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33450" y="1703070"/>
            <a:ext cx="13077063" cy="192786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8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Native transfer option embedded in generic messaging layer.
• Bypasses 'Wormhole-wrapped' tokens for direct USDC movement.
• Guardian network acts as the deliveryman, fetching attestations automatically.
• A 'one-click' experience abstracting manual complexity.</a:t>
            </a:r>
            <a:endParaRPr lang="en-US" sz="285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91000" y="4955381"/>
            <a:ext cx="3954971" cy="99536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925" b="1">
                <a:solidFill>
                  <a:srgbClr val="C8C8C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WRAPPED</a:t>
            </a:r>
            <a:endParaRPr lang="en-US" sz="5925" b="1">
              <a:solidFill>
                <a:srgbClr val="C8C8C8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14375" y="7087076"/>
            <a:ext cx="9006745" cy="61817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67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Direct USDC Movement &amp; Simplified UX</a:t>
            </a:r>
            <a:endParaRPr lang="en-US" sz="367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93515" y="8784907"/>
            <a:ext cx="1916335" cy="35623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Source Chain</a:t>
            </a:r>
            <a:endParaRPr lang="en-US" sz="210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49947" y="8764905"/>
            <a:ext cx="2650903" cy="37719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2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Wormhole Protocol</a:t>
            </a:r>
            <a:endParaRPr lang="en-US" sz="225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67800" y="7849552"/>
            <a:ext cx="3799427" cy="39814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3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Direct USDC Transfer (Native)</a:t>
            </a:r>
            <a:endParaRPr lang="en-US" sz="23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201150" y="8744902"/>
            <a:ext cx="3551777" cy="39814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325">
                <a:solidFill>
                  <a:srgbClr val="969696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Wrapped Token (Bypassed)</a:t>
            </a:r>
            <a:endParaRPr lang="en-US" sz="2325">
              <a:solidFill>
                <a:srgbClr val="969696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442281" y="8765381"/>
            <a:ext cx="2474119" cy="36671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17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Destination Chain</a:t>
            </a:r>
            <a:endParaRPr lang="en-US" sz="217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487400" y="9832658"/>
            <a:ext cx="3794474" cy="35623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Automatic Attestation Delivery</a:t>
            </a:r>
            <a:endParaRPr lang="en-US" sz="21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915650" y="7820025"/>
            <a:ext cx="523875" cy="56197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144500" y="4295775"/>
            <a:ext cx="923925" cy="90487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00150" y="1476375"/>
            <a:ext cx="2676525" cy="20002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201275" y="1457325"/>
            <a:ext cx="2609850" cy="111442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43350" y="1466850"/>
            <a:ext cx="1514475" cy="2095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819775" y="1400175"/>
            <a:ext cx="1838325" cy="295275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677150" y="1323975"/>
            <a:ext cx="1276350" cy="35242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525" y="9525"/>
            <a:ext cx="14077950" cy="109537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3163550" y="8029575"/>
            <a:ext cx="923925" cy="8953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3220700" y="2352675"/>
            <a:ext cx="866775" cy="9334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723900" y="704850"/>
            <a:ext cx="11966163" cy="83820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Integration Case Study: LayerZero</a:t>
            </a:r>
            <a:endParaRPr lang="en-US" sz="495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90700" y="2721769"/>
            <a:ext cx="3581114" cy="89058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LAYERZERO</a:t>
            </a:r>
            <a:r>
              <a:rPr lang="en-US" sz="26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</a:t>
            </a:r>
            <a:r>
              <a:rPr lang="en-US" sz="2625">
                <a:solidFill>
                  <a:srgbClr val="B4B4B4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Arbitrary Messaging Layer</a:t>
            </a:r>
            <a:endParaRPr lang="en-US" sz="2625">
              <a:solidFill>
                <a:srgbClr val="B4B4B4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429500" y="8914448"/>
            <a:ext cx="4742497" cy="12782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CCTP (Circle Cross-Chain Transfer Protocol)</a:t>
            </a:r>
            <a:r>
              <a:rPr lang="en-US" sz="247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</a:t>
            </a:r>
            <a:r>
              <a:rPr lang="en-US" sz="2475">
                <a:solidFill>
                  <a:srgbClr val="B4B4B4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Asset Settlement Layer</a:t>
            </a:r>
            <a:endParaRPr lang="en-US" sz="2475">
              <a:solidFill>
                <a:srgbClr val="B4B4B4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116050" y="2481739"/>
            <a:ext cx="4693348" cy="156114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Standard:</a:t>
            </a: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Enhanced Omnichain Fungible Token (OFT) for USD transfers.</a:t>
            </a:r>
            <a:endParaRPr lang="en-US" sz="30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116050" y="4348163"/>
            <a:ext cx="5550598" cy="157162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Hybrid Model:</a:t>
            </a: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LayerZero handles arbitrary messaging; CCTP handles asset settlement.</a:t>
            </a:r>
            <a:endParaRPr lang="en-US" sz="30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116050" y="6233636"/>
            <a:ext cx="4312348" cy="158210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Benefit:</a:t>
            </a: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Deferring value transfer to Circle's rails eliminates slippage.</a:t>
            </a:r>
            <a:endParaRPr lang="en-US" sz="30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135100" y="8154829"/>
            <a:ext cx="4864798" cy="101631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Efficiency:</a:t>
            </a: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Zero reliance on external liquidity pools.</a:t>
            </a:r>
            <a:endParaRPr lang="en-US" sz="30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448425" y="5695950"/>
            <a:ext cx="3951732" cy="87630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325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Data/Message Flow</a:t>
            </a:r>
            <a:endParaRPr lang="en-US" sz="5325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38950" y="8134350"/>
            <a:ext cx="3449288" cy="7429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5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Value(USD) Flow</a:t>
            </a:r>
            <a:endParaRPr lang="en-US" sz="4500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5" y="7439025"/>
            <a:ext cx="3514725" cy="35242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77825" y="6134100"/>
            <a:ext cx="1285875" cy="13525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8225" y="2533650"/>
            <a:ext cx="13335000" cy="642937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25825" y="9525"/>
            <a:ext cx="3524250" cy="351472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020675" y="4257675"/>
            <a:ext cx="1343025" cy="120967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077825" y="2428875"/>
            <a:ext cx="1219200" cy="12382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33450" y="894398"/>
            <a:ext cx="13292614" cy="8591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1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Integration Case Study: Celer cBridge</a:t>
            </a:r>
            <a:endParaRPr lang="en-US" sz="510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78000" y="2486025"/>
            <a:ext cx="4456938" cy="14668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8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Mechanism:</a:t>
            </a:r>
            <a:r>
              <a:rPr lang="en-US" sz="28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Celer State Guardian Network (SGN) acts as the relayer.</a:t>
            </a:r>
            <a:endParaRPr lang="en-US" sz="285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478000" y="4306253"/>
            <a:ext cx="4171188" cy="144589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8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Advantage:</a:t>
            </a:r>
            <a:r>
              <a:rPr lang="en-US" sz="28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Eliminates liquidity shortages in destination pools.</a:t>
            </a:r>
            <a:endParaRPr lang="en-US" sz="285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487525" y="6106477"/>
            <a:ext cx="4552188" cy="144589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8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Outcome:</a:t>
            </a:r>
            <a:r>
              <a:rPr lang="en-US" sz="28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Combines Celer's fast frontend with Circle's capital efficiency.</a:t>
            </a:r>
            <a:endParaRPr lang="en-US" sz="285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14500" y="8527732"/>
            <a:ext cx="3743706" cy="98488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9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Shift:</a:t>
            </a:r>
            <a:r>
              <a:rPr lang="en-US" sz="29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Moving from liquidity-pool model</a:t>
            </a:r>
            <a:endParaRPr lang="en-US" sz="29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382000" y="8549640"/>
            <a:ext cx="3787712" cy="9220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 settlement-based model.</a:t>
            </a:r>
            <a:endParaRPr lang="en-US" sz="27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43925" y="2667000"/>
            <a:ext cx="10210800" cy="71056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47750" y="1131570"/>
            <a:ext cx="14314170" cy="8801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2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Future Outlook: The Universal Ledger</a:t>
            </a:r>
            <a:endParaRPr lang="en-US" sz="5250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19200" y="2779395"/>
            <a:ext cx="6726460" cy="17183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lang="en-US" sz="33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Evolution:</a:t>
            </a: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CCTP as the foundational settlement layer for the internet of value.</a:t>
            </a:r>
            <a:endParaRPr lang="en-US" sz="33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19200" y="4588193"/>
            <a:ext cx="6926485" cy="17392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lang="en-US" sz="33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Chain Abstraction:</a:t>
            </a: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Users interact without needing to know the underlying blockchain.</a:t>
            </a:r>
            <a:endParaRPr lang="en-US" sz="33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19200" y="6398895"/>
            <a:ext cx="7097935" cy="17183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lang="en-US" sz="33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Standardization:</a:t>
            </a: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A unified liquidity layer for USDC and future Real-World Assets (RWAs).</a:t>
            </a:r>
            <a:endParaRPr lang="en-US" sz="33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19200" y="8210550"/>
            <a:ext cx="7259860" cy="167640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lang="en-US" sz="330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Vision:</a:t>
            </a: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Issuer-mediated native settlement replaces wrapped-asset schemes.</a:t>
            </a:r>
            <a:endParaRPr lang="en-US" sz="33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822555" y="5187315"/>
            <a:ext cx="1483995" cy="29337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7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Global Balance</a:t>
            </a:r>
            <a:endParaRPr lang="en-US" sz="17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35235" y="5622607"/>
            <a:ext cx="5738241" cy="119443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TOTAL LIQUIDITY:
</a:t>
            </a: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$500,000,000,000,000</a:t>
            </a:r>
            <a:r>
              <a:rPr lang="en-US" sz="23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UNIVERSAL ASSET POOL</a:t>
            </a:r>
            <a:endParaRPr lang="en-US" sz="23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66900" y="2619375"/>
            <a:ext cx="15935325" cy="574357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815304" y="1304925"/>
            <a:ext cx="13472446" cy="10477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622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Future of Liquidity is Native</a:t>
            </a:r>
            <a:endParaRPr lang="en-US" sz="6225" b="1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232660" y="9060180"/>
            <a:ext cx="14893290" cy="58674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4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One Protocol. • Multi-Chain Access. • Zero Fragmentation.</a:t>
            </a:r>
            <a:endParaRPr lang="en-US" sz="345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EFFBFF"/>
      </a:lt1>
      <a:dk2>
        <a:srgbClr val="002F40"/>
      </a:dk2>
      <a:lt2>
        <a:srgbClr val="FFFFFF"/>
      </a:lt2>
      <a:accent1>
        <a:srgbClr val="3045FD"/>
      </a:accent1>
      <a:accent2>
        <a:srgbClr val="0085FF"/>
      </a:accent2>
      <a:accent3>
        <a:srgbClr val="2947E8"/>
      </a:accent3>
      <a:accent4>
        <a:srgbClr val="3CD6DF"/>
      </a:accent4>
      <a:accent5>
        <a:srgbClr val="73DDE3"/>
      </a:accent5>
      <a:accent6>
        <a:srgbClr val="FFC67C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4073</Words>
  <Application>WPS 演示</Application>
  <PresentationFormat>宽屏</PresentationFormat>
  <Paragraphs>152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宋体</vt:lpstr>
      <vt:lpstr>Wingdings</vt:lpstr>
      <vt:lpstr>Arial</vt:lpstr>
      <vt:lpstr>Inter</vt:lpstr>
      <vt:lpstr>Thonburi</vt:lpstr>
      <vt:lpstr>微软雅黑</vt:lpstr>
      <vt:lpstr>汉仪旗黑</vt:lpstr>
      <vt:lpstr>微软雅黑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Inter</vt:lpstr>
      <vt:lpstr>微软雅黑</vt:lpstr>
      <vt:lpstr>苹方-简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黄启洲</cp:lastModifiedBy>
  <cp:revision>3</cp:revision>
  <dcterms:created xsi:type="dcterms:W3CDTF">2026-01-05T05:50:56Z</dcterms:created>
  <dcterms:modified xsi:type="dcterms:W3CDTF">2026-01-05T05:50:56Z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3EFB8B8177595A3740515B69A338F3EC_42</vt:lpwstr>
  </property>
  <property fmtid="{D5CDD505-2E9C-101B-9397-08002B2CF9AE}" pid="3" name="KSOProductBuildVer">
    <vt:lpwstr>2052-7.5.0.8993</vt:lpwstr>
  </property>
  <property fmtid="{D5CDD505-2E9C-101B-9397-08002B2CF9AE}" pid="4" name="fileWhereFroms">
    <vt:lpwstr>X7pvHeV8CWyUNR+Hgqm2xAJz7MJohOlr+Uod785vnrSfH7MmjtLscDGtNYFgdKV4oHVIRxiZPRat9vxtg/UPUULXbYxli4oTgLud8M/zY8+7SsDdKwpMXGUxzpJSR+y30l6rFIsv8sFxxB46Aoo99pLkafiPpK80/sXl0LTGN3nDR/dWcbBe1PXo1djztXMMRDG2uBg96qpe1/07xLAmGGebKLpZD4JsR2UEaVa/t180d5u8/Q7fNZSgYLFlL4qiC1oJoJ319eoi4SsTixqJJt03GEfGBWTeAmg0dgpX1ZCi1WTfCzJwCIb/+S9XELD0x/BSbdelsqb7SlL06zE4JoaOWGnZ3HUeL4j8YC6aUnpPKnDU5ScnzCjurK1blCoDwUgUpd6CmwlpKha5apZXIxTiiNE1Bn+NWVA3JaugiGa19oYKov3mkD86QM2SLln2YGm5mTRQYO0CUATuTuBxdhZJW1NDwlzdWTuA8MeZWvVZbpI8gISAa8+lulctHfFHGhsSIhObqNJjeU1D0x8oHoJQydaoV2UHg8I6lXzP8tKjnTA07LrcULMrYbPZ6mEiaBzLa7CDdTHtnpCa7bYQryHXXWMj3jBXV+lIfcwFX+X0KahjoUHEy+W/kxCudhb2</vt:lpwstr>
  </property>
</Properties>
</file>