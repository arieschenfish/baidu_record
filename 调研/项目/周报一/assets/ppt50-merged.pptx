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9659600" cy="109728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53150" y="3581400"/>
            <a:ext cx="7429500" cy="67532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09319" y="520065"/>
            <a:ext cx="15411831" cy="196977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850" b="1">
                <a:solidFill>
                  <a:srgbClr val="0C1B3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Beyond the Greenback - Architects of the Post-Dollar Era</a:t>
            </a:r>
            <a:endParaRPr lang="en-US" sz="5850" b="1">
              <a:solidFill>
                <a:srgbClr val="0C1B39">
                  <a:alpha val="100000"/>
                </a:srgbClr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28636" y="2713196"/>
            <a:ext cx="10663714" cy="66008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900">
                <a:solidFill>
                  <a:srgbClr val="444444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Navigating the Future of Geopolitical Fintech</a:t>
            </a:r>
            <a:endParaRPr lang="en-US" sz="3900">
              <a:solidFill>
                <a:srgbClr val="444444">
                  <a:alpha val="100000"/>
                </a:srgb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38150" y="1628775"/>
            <a:ext cx="18859500" cy="89630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77941" y="442436"/>
            <a:ext cx="13976509" cy="95345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70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Weaponization of Finance</a:t>
            </a:r>
            <a:endParaRPr lang="en-US" sz="5700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386007" y="2013109"/>
            <a:ext cx="3790950" cy="160305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18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CHALLENGE:</a:t>
            </a:r>
            <a:r>
              <a:rPr lang="en-US" sz="18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US Dollar's 'exorbitant privilege' has historically allowed for power projection through financial sanctions.</a:t>
            </a:r>
            <a:endParaRPr lang="en-US" sz="18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73195" y="9550718"/>
            <a:ext cx="2118455" cy="69151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3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USD Global Sanctions Reserves Share Impact (Historical High)</a:t>
            </a:r>
            <a:endParaRPr lang="en-US" sz="13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144125" y="2015966"/>
            <a:ext cx="3713131" cy="133064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950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TURNING POINT:</a:t>
            </a:r>
            <a:r>
              <a:rPr lang="en-US" sz="195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Recent freezing of sovereign reserves served as a wake-up call for the Global South.</a:t>
            </a:r>
            <a:endParaRPr lang="en-US" sz="195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963900" y="2577465"/>
            <a:ext cx="1696307" cy="5029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500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BRICS Payment Systems Adoption
Non-USD Trade Volume</a:t>
            </a:r>
            <a:endParaRPr lang="en-US" sz="1500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697450" y="2949893"/>
            <a:ext cx="1428369" cy="4819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Non-USD Trade Volume</a:t>
            </a:r>
            <a:endParaRPr lang="en-US" sz="14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345025" y="3978593"/>
            <a:ext cx="1761744" cy="48196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42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Sovereign Digital Currencies (CBDCs)</a:t>
            </a:r>
            <a:endParaRPr lang="en-US" sz="142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53650" y="7885842"/>
            <a:ext cx="3117723" cy="2230564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875" b="1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RESPONSE:</a:t>
            </a:r>
            <a:r>
              <a:rPr lang="en-US" sz="1875">
                <a:solidFill>
                  <a:srgbClr val="FFFFFF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Financial sovereignty is now a national security imperative, driving BRICS nations to build parallel rails bypassing New York.</a:t>
            </a:r>
            <a:endParaRPr lang="en-US" sz="1875">
              <a:solidFill>
                <a:srgbClr val="FFFFFF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906500" y="7334250"/>
            <a:ext cx="5238750" cy="322897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2925" y="7305675"/>
            <a:ext cx="2324100" cy="115252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19775" y="7296150"/>
            <a:ext cx="1419225" cy="117157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01200" y="7267575"/>
            <a:ext cx="2162175" cy="12287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0050" y="1095375"/>
            <a:ext cx="19250025" cy="61055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029200" y="7229475"/>
            <a:ext cx="1095375" cy="127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019520" y="313373"/>
            <a:ext cx="13268230" cy="64960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825" b="1">
                <a:solidFill>
                  <a:srgbClr val="0C1C46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FRAGMENTATION OF GLOBAL TRADE</a:t>
            </a:r>
            <a:endParaRPr lang="en-US" sz="3825" b="1">
              <a:solidFill>
                <a:srgbClr val="0C1C46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0550" y="8437245"/>
            <a:ext cx="4127945" cy="21374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2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Structural Shift:</a:t>
            </a:r>
            <a:r>
              <a:rPr lang="en-US" sz="22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Moving from a unipolar financial system to a multipolar economy with direct non-G7 trade.</a:t>
            </a:r>
            <a:endParaRPr lang="en-US" sz="22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05400" y="8436769"/>
            <a:ext cx="4242245" cy="21478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2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Bottleneck:</a:t>
            </a:r>
            <a:r>
              <a:rPr lang="en-US" sz="22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Traditional correspondent banking is inefficient, expensive, and reliant on dollar conversion.</a:t>
            </a:r>
            <a:endParaRPr lang="en-US" sz="22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29775" y="8372475"/>
            <a:ext cx="4194620" cy="23050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2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Solution:</a:t>
            </a:r>
            <a:r>
              <a:rPr lang="en-US" sz="22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
Fintech builders are designing “peer-to-peer” national trade systems that respect local liquidity and political neutrality.</a:t>
            </a:r>
            <a:endParaRPr lang="en-US" sz="22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629828" y="7585710"/>
            <a:ext cx="3620071" cy="33528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9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New Peer-to-Peer Trade Efficiency</a:t>
            </a:r>
            <a:endParaRPr lang="en-US" sz="1950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362950" y="7905750"/>
            <a:ext cx="2438400" cy="990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81850" y="7858125"/>
            <a:ext cx="1143000" cy="11239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1075" y="7858125"/>
            <a:ext cx="3609975" cy="115252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373100" y="7781925"/>
            <a:ext cx="1190625" cy="1219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981950" y="6858000"/>
            <a:ext cx="3686175" cy="8858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4392275" y="2600325"/>
            <a:ext cx="2381250" cy="876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267075" y="2066925"/>
            <a:ext cx="11268075" cy="53530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3204" y="681514"/>
            <a:ext cx="17823370" cy="93249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mBridge: The Public Sector's Answer</a:t>
            </a:r>
            <a:endParaRPr lang="en-US" sz="5550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87525" y="5884545"/>
            <a:ext cx="2530316" cy="12992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 Central Bank CBDC (e.g., HKMA)</a:t>
            </a:r>
            <a:endParaRPr lang="en-US" sz="25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7750" y="8971598"/>
            <a:ext cx="5718810" cy="4400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State-Sponsored De-dollarization</a:t>
            </a:r>
            <a:endParaRPr lang="en-US" sz="2625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7750" y="9354026"/>
            <a:ext cx="5608034" cy="124682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A collaboration between the BIS and central banks of China, UAE, and Thailand.
Shared Ledger Innovation</a:t>
            </a:r>
            <a:endParaRPr lang="en-US" sz="24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258050" y="8971598"/>
            <a:ext cx="4585335" cy="4400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Shared Ledger Innovation</a:t>
            </a:r>
            <a:endParaRPr lang="en-US" sz="2625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258050" y="9352598"/>
            <a:ext cx="5998559" cy="12782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Unlike SWIFT’s messaging, mBridge allows direct swapping of digital currency on a single blockchain.</a:t>
            </a:r>
            <a:endParaRPr lang="en-US" sz="24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630400" y="8131016"/>
            <a:ext cx="3280410" cy="49244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6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Corridor of Trust</a:t>
            </a:r>
            <a:endParaRPr lang="en-US" sz="2625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458825" y="8953976"/>
            <a:ext cx="5579459" cy="1665922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• Payments settle instantly in local currency, completely removing US correspondent banks and compliance hurdles.</a:t>
            </a:r>
            <a:endParaRPr lang="en-US" sz="24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04950" y="1800225"/>
            <a:ext cx="16649700" cy="72961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877800" y="9477375"/>
            <a:ext cx="1143000" cy="11239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00875" y="9477375"/>
            <a:ext cx="942975" cy="11239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0550" y="9477375"/>
            <a:ext cx="1143000" cy="11239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738313" y="538163"/>
            <a:ext cx="15806738" cy="73342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350" b="1">
                <a:solidFill>
                  <a:srgbClr val="0B173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RISE OF NEUTRAL SETTLEMENT ASSETS</a:t>
            </a:r>
            <a:endParaRPr lang="en-US" sz="4350" b="1">
              <a:solidFill>
                <a:srgbClr val="0B173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95771" y="8039100"/>
            <a:ext cx="3663029" cy="4191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75" b="1">
                <a:solidFill>
                  <a:srgbClr val="0B173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National Currency A</a:t>
            </a:r>
            <a:endParaRPr lang="en-US" sz="2475" b="1">
              <a:solidFill>
                <a:srgbClr val="0B173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72596" y="8039100"/>
            <a:ext cx="3634454" cy="4191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75" b="1">
                <a:solidFill>
                  <a:srgbClr val="0B173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National Currency B</a:t>
            </a:r>
            <a:endParaRPr lang="en-US" sz="2475" b="1">
              <a:solidFill>
                <a:srgbClr val="0B173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57350" y="9534525"/>
            <a:ext cx="5130355" cy="104775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Private Sector Innovation:</a:t>
            </a:r>
            <a:r>
              <a:rPr lang="en-US" sz="20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Fintechs are utilizing stablecoins and tokenized Real-World Assets (RWA) as neutral bridges.</a:t>
            </a:r>
            <a:endParaRPr lang="en-US" sz="20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81950" y="9524524"/>
            <a:ext cx="4863655" cy="105822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Risk Mitigation:</a:t>
            </a:r>
            <a:r>
              <a:rPr lang="en-US" sz="20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Eliminates the risk of holding volatile partner currencies or politically sensitive dollars.</a:t>
            </a:r>
            <a:endParaRPr lang="en-US" sz="20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63650" y="9524524"/>
            <a:ext cx="5501830" cy="105822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02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Mechanism:</a:t>
            </a:r>
            <a:r>
              <a:rPr lang="en-US" sz="20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Using gold-backed tokens or algorithmic ‘BRICS baskets’ to settle trades instantly outside USD liquidity pools.</a:t>
            </a:r>
            <a:endParaRPr lang="en-US" sz="20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905875" y="8772525"/>
            <a:ext cx="1581150" cy="7334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249275" y="8677275"/>
            <a:ext cx="1438275" cy="76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71625" y="6648450"/>
            <a:ext cx="16697325" cy="260032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34300" y="5991225"/>
            <a:ext cx="4181475" cy="54292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562225" y="5572125"/>
            <a:ext cx="1390650" cy="20002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628775" y="2181225"/>
            <a:ext cx="16621125" cy="240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134225" y="1590675"/>
            <a:ext cx="5410200" cy="56197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20551" y="481965"/>
            <a:ext cx="14995874" cy="71247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0F243E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ATOMIC SETTLEMENT VS. LEGACY MESSAGING</a:t>
            </a:r>
            <a:endParaRPr lang="en-US" sz="4200" b="1">
              <a:solidFill>
                <a:srgbClr val="0F243E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44854" y="4590574"/>
            <a:ext cx="10333196" cy="84867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75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Legacy Flaw:</a:t>
            </a:r>
            <a:r>
              <a:rPr lang="en-US" sz="24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Old banking exchanges “promises to pay” (messaging), creating counterparty risk and trapping capital in “nostro” accounts.</a:t>
            </a:r>
            <a:endParaRPr lang="en-US" sz="24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58175" y="9656921"/>
            <a:ext cx="15072551" cy="86963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Core Innovation:</a:t>
            </a: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Shift to “Atomic Settlement” via smart contracts—payment and delivery happen simultaneously. </a:t>
            </a:r>
            <a:r>
              <a:rPr lang="en-US" sz="25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Impact:</a:t>
            </a:r>
            <a:r>
              <a:rPr lang="en-US" sz="25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Releases billions in trapped liquidity, allowing businesses to redeploy capital immediately.</a:t>
            </a:r>
            <a:endParaRPr lang="en-US" sz="25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2950" y="3009900"/>
            <a:ext cx="12277725" cy="722947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811125" y="5476875"/>
            <a:ext cx="933450" cy="9715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811125" y="7724775"/>
            <a:ext cx="933450" cy="8953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811125" y="2962275"/>
            <a:ext cx="866775" cy="971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579941" y="704850"/>
            <a:ext cx="14022134" cy="83820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950" b="1">
                <a:solidFill>
                  <a:srgbClr val="0F1E46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Interoperability in a Fragmented World</a:t>
            </a:r>
            <a:endParaRPr lang="en-US" sz="4950" b="1">
              <a:solidFill>
                <a:srgbClr val="0F1E46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07897" y="2258378"/>
            <a:ext cx="4321778" cy="60769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 b="1">
                <a:solidFill>
                  <a:srgbClr val="0F1E46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'Liquidity Bridges'</a:t>
            </a:r>
            <a:endParaRPr lang="en-US" sz="3600" b="1">
              <a:solidFill>
                <a:srgbClr val="0F1E46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906500" y="3062288"/>
            <a:ext cx="3825812" cy="5238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New Challenge:</a:t>
            </a:r>
            <a:endParaRPr lang="en-US" sz="2700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06500" y="3649980"/>
            <a:ext cx="5002149" cy="142494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Connecting emerging ‘walled gardens’ like Russia’s SPFS, China’s CIPS, and Indian UPI.</a:t>
            </a:r>
            <a:endParaRPr lang="en-US" sz="27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916025" y="5596890"/>
            <a:ext cx="4302062" cy="50292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Middleware Layer:</a:t>
            </a:r>
            <a:endParaRPr lang="en-US" sz="2700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06500" y="6184582"/>
            <a:ext cx="5440299" cy="98488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Fintechs are building the ‘universal translators’ of money.</a:t>
            </a:r>
            <a:endParaRPr lang="en-US" sz="27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906500" y="7827645"/>
            <a:ext cx="4149662" cy="461010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Seamless Connection:</a:t>
            </a:r>
            <a:endParaRPr lang="en-US" sz="2700" b="1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887450" y="8371523"/>
            <a:ext cx="5078349" cy="190690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7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Aggregators navigate local compliance and technical standards to trigger cross-border payments seamlessly.</a:t>
            </a:r>
            <a:endParaRPr lang="en-US" sz="277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24775" y="2600325"/>
            <a:ext cx="10991850" cy="789622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3450" y="7839075"/>
            <a:ext cx="733425" cy="6667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3450" y="2657475"/>
            <a:ext cx="733425" cy="69532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42975" y="4981575"/>
            <a:ext cx="676275" cy="7048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28700" y="1221581"/>
            <a:ext cx="12893421" cy="785813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650" b="1">
                <a:solidFill>
                  <a:srgbClr val="0C163B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Future: Currency Agnosticism</a:t>
            </a:r>
            <a:endParaRPr lang="en-US" sz="4650" b="1">
              <a:solidFill>
                <a:srgbClr val="0C163B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85900" y="2674144"/>
            <a:ext cx="6543580" cy="21478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1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Beyond Replacement:</a:t>
            </a:r>
            <a:r>
              <a:rPr lang="en-US" sz="31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future isn’t replacing the Dollar with the Yuan, but abstracting the settlement asset entirely.</a:t>
            </a:r>
            <a:endParaRPr lang="en-US" sz="31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04950" y="4994434"/>
            <a:ext cx="6124480" cy="2650807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1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AI-Driven Efficiency:</a:t>
            </a:r>
            <a:r>
              <a:rPr lang="en-US" sz="31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Platforms dynamically select the optimal route (Gold, Yuan, CBDC) based on real-time risk, speed, and cost.</a:t>
            </a:r>
            <a:endParaRPr lang="en-US" sz="31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85900" y="7847648"/>
            <a:ext cx="6391180" cy="211645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150" b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Democratized Access:</a:t>
            </a:r>
            <a:r>
              <a:rPr lang="en-US" sz="315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The dominance of a single currency ends through the quiet efficiency of software.</a:t>
            </a:r>
            <a:endParaRPr lang="en-US" sz="315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01050" y="2419350"/>
            <a:ext cx="10448925" cy="79819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00175" y="864394"/>
            <a:ext cx="16860298" cy="17287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5100" b="1">
                <a:solidFill>
                  <a:srgbClr val="0E1C48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Building the Multi-Rail World - Navigating the New Financial Geography</a:t>
            </a:r>
            <a:endParaRPr lang="en-US" sz="5100" b="1">
              <a:solidFill>
                <a:srgbClr val="0E1C48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33500" y="3236119"/>
            <a:ext cx="6111240" cy="130968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8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unipolar financial moment has passed.</a:t>
            </a:r>
            <a:endParaRPr lang="en-US" sz="38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33500" y="4891088"/>
            <a:ext cx="7635240" cy="2619375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8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✿ Opportunity lies in
architecting the bridges that
allow a diversified world to
trade freely.</a:t>
            </a:r>
            <a:endParaRPr lang="en-US" sz="38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43025" y="7836694"/>
            <a:ext cx="7054215" cy="1938338"/>
          </a:xfrm>
          <a:prstGeom prst="rect">
            <a:avLst/>
          </a:prstGeom>
        </p:spPr>
        <p:txBody>
          <a:bodyPr vert="horz" wrap="square" lIns="28575" tIns="45720" rIns="91440" bIns="4572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825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Welcome to the dawn of sovereign, programmable value transfer.</a:t>
            </a:r>
            <a:endParaRPr lang="en-US" sz="3825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BFF"/>
      </a:lt1>
      <a:dk2>
        <a:srgbClr val="002F40"/>
      </a:dk2>
      <a:lt2>
        <a:srgbClr val="FFFFFF"/>
      </a:lt2>
      <a:accent1>
        <a:srgbClr val="3045FD"/>
      </a:accent1>
      <a:accent2>
        <a:srgbClr val="0085FF"/>
      </a:accent2>
      <a:accent3>
        <a:srgbClr val="2947E8"/>
      </a:accent3>
      <a:accent4>
        <a:srgbClr val="3CD6DF"/>
      </a:accent4>
      <a:accent5>
        <a:srgbClr val="73DDE3"/>
      </a:accent5>
      <a:accent6>
        <a:srgbClr val="FFC67C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3387</Words>
  <Application>WPS 演示</Application>
  <PresentationFormat>宽屏</PresentationFormat>
  <Paragraphs>96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Montserrat</vt:lpstr>
      <vt:lpstr>Thonburi</vt:lpstr>
      <vt:lpstr>Calibri</vt:lpstr>
      <vt:lpstr>Arial</vt:lpstr>
      <vt:lpstr>Helvetica Neue</vt:lpstr>
      <vt:lpstr>微软雅黑</vt:lpstr>
      <vt:lpstr>汉仪旗黑</vt:lpstr>
      <vt:lpstr>宋体</vt:lpstr>
      <vt:lpstr>Arial Unicode MS</vt:lpstr>
      <vt:lpstr>等线 Light</vt:lpstr>
      <vt:lpstr>汉仪中等线KW</vt:lpstr>
      <vt:lpstr>等线</vt:lpstr>
      <vt:lpstr>汉仪书宋二KW</vt:lpstr>
      <vt:lpstr>Montserrat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黄启洲</cp:lastModifiedBy>
  <cp:revision>4</cp:revision>
  <dcterms:created xsi:type="dcterms:W3CDTF">2026-01-05T05:56:34Z</dcterms:created>
  <dcterms:modified xsi:type="dcterms:W3CDTF">2026-01-05T05:56:34Z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D472B6FA1575918782525B6971F87C1E_42</vt:lpwstr>
  </property>
  <property fmtid="{D5CDD505-2E9C-101B-9397-08002B2CF9AE}" pid="3" name="KSOProductBuildVer">
    <vt:lpwstr>2052-7.5.0.8993</vt:lpwstr>
  </property>
  <property fmtid="{D5CDD505-2E9C-101B-9397-08002B2CF9AE}" pid="4" name="fileWhereFroms">
    <vt:lpwstr>X7pvHeV8CWyUNR+Hgqm2xAJz7MJohOlr+Uod785vnrSfH7MmjtLscDGtNYFgdKV4XDwxX6k35UAsu/x1YgMNSngV/SuIOwSit8OBHdbrLprfC92EruwYJEiq2ZNjBVfs6q0Sx6nMxztyjVbWKM9P1JLkafiPpK80/sXl0LTGN3nDR/dWcbBe1PXo1djztXMMRDG2uBg96qpe1/07xLAmGGebKLpZD4JsR2UEaVa/t18MLBL/6WSM7GvAzas+tFlzC1oJoJ319eoi4SsTixqJJtDnB7s0r8XpAykvSh+p0ESi1WTfCzJwCIb/+S9XELD0x/BSbdelsqb7SlL06zE4JoaOWGnZ3HUeL4j8YC6aUnpPKnDU5ScnzCjurK1blCoDwUgUpd6CmwlpKha5apZXI8Klxq7k6vngXcCrXZ6s1kqpsIv+kf/AT3ghkO40g50j89wGU8sbHtmc/XcZCcuEdeUy6NC3gxT55lpkZ/X9DsvavmRCYf0cG+sbvLirWwj8BD+Ht9ZXktFvDaNPfOAkWciZvRASjR+Cc/VXdanX/ZujnTA07LrcULMrYbPZ6mEiaBzLa7CDdTHtnpCa7bYQryHXXWMj3jBXV+lIfcwFX+X0KahjoUHEy+W/kxCudhb2</vt:lpwstr>
  </property>
</Properties>
</file>