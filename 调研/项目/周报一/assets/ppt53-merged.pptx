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9659600" cy="109728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81050" y="3638550"/>
            <a:ext cx="9372600" cy="37909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63250" y="1104900"/>
            <a:ext cx="7953375" cy="875347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90600" y="3761899"/>
            <a:ext cx="10005251" cy="210597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6300" b="1">
                <a:solidFill>
                  <a:srgbClr val="0B162C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Anti-Deflation Protocol</a:t>
            </a:r>
            <a:endParaRPr lang="en-US" sz="6300" b="1">
              <a:solidFill>
                <a:srgbClr val="0B162C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0125" y="6030754"/>
            <a:ext cx="9699403" cy="143541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275">
                <a:solidFill>
                  <a:srgbClr val="3D4756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Preserving Muscle Mass While
Navigating Weight Loss Treatments</a:t>
            </a:r>
            <a:endParaRPr lang="en-US" sz="4275">
              <a:solidFill>
                <a:srgbClr val="3D4756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10700" y="4333875"/>
            <a:ext cx="857250" cy="266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86925" y="2371725"/>
            <a:ext cx="295275" cy="204787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72700" y="2009775"/>
            <a:ext cx="2819400" cy="5448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86550" y="2009775"/>
            <a:ext cx="2809875" cy="5448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010775" y="7791450"/>
            <a:ext cx="866775" cy="94297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00125" y="9286875"/>
            <a:ext cx="933450" cy="96202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76325" y="7791450"/>
            <a:ext cx="733425" cy="90487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010775" y="9363075"/>
            <a:ext cx="866775" cy="8191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00125" y="732949"/>
            <a:ext cx="15129701" cy="84867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025" b="1">
                <a:solidFill>
                  <a:srgbClr val="0B1731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‘Deflated’ Phenomenon Explained</a:t>
            </a:r>
            <a:endParaRPr lang="en-US" sz="5025" b="1">
              <a:solidFill>
                <a:srgbClr val="0B1731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720560" y="4156234"/>
            <a:ext cx="2651665" cy="97440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775" b="1">
                <a:solidFill>
                  <a:srgbClr val="343F4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STANDARD WEIGHT LOSS</a:t>
            </a:r>
            <a:endParaRPr lang="en-US" sz="2775" b="1">
              <a:solidFill>
                <a:srgbClr val="343F4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438870" y="5571173"/>
            <a:ext cx="1657350" cy="64960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1875">
                <a:solidFill>
                  <a:srgbClr val="343F4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FAT &amp; MUSCLE REDUCTION</a:t>
            </a:r>
            <a:endParaRPr lang="en-US" sz="1875">
              <a:solidFill>
                <a:srgbClr val="343F4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05000" y="7842409"/>
            <a:ext cx="7258336" cy="139350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Cause:</a:t>
            </a:r>
            <a:r>
              <a:rPr lang="en-US" sz="27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Rapid weight loss from GLP-1 medications often reduces lean muscle mass alongside fat.</a:t>
            </a:r>
            <a:endParaRPr lang="en-US" sz="277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905000" y="9365932"/>
            <a:ext cx="7544086" cy="9848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Effect:</a:t>
            </a:r>
            <a:r>
              <a:rPr lang="en-US" sz="27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This creates the 'Ozempic face' or a generic 'deflated' physique.</a:t>
            </a:r>
            <a:endParaRPr lang="en-US" sz="277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807410" y="4157663"/>
            <a:ext cx="3308890" cy="9429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775" b="1">
                <a:solidFill>
                  <a:srgbClr val="343F4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MUSCLE-SPARING LOSS</a:t>
            </a:r>
            <a:endParaRPr lang="en-US" sz="2775" b="1">
              <a:solidFill>
                <a:srgbClr val="343F4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11050" y="5590699"/>
            <a:ext cx="2575751" cy="63912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875">
                <a:solidFill>
                  <a:srgbClr val="343F4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FAT REDUCTION,
MUSCLE RETENTION</a:t>
            </a:r>
            <a:endParaRPr lang="en-US" sz="1875">
              <a:solidFill>
                <a:srgbClr val="343F4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877550" y="7841932"/>
            <a:ext cx="8001286" cy="14039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Biology:</a:t>
            </a:r>
            <a:r>
              <a:rPr lang="en-US" sz="27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Without countermeasures, the body adapts to the caloric deficit by catabolizing muscle tissue for energy.</a:t>
            </a:r>
            <a:endParaRPr lang="en-US" sz="277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887075" y="9366885"/>
            <a:ext cx="6582061" cy="96393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Key:</a:t>
            </a:r>
            <a:r>
              <a:rPr lang="en-US" sz="27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This is a manageable biological adaptation, not a necessary side effect.</a:t>
            </a:r>
            <a:endParaRPr lang="en-US" sz="277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24150" y="8763000"/>
            <a:ext cx="2714625" cy="171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" y="3629025"/>
            <a:ext cx="4029075" cy="331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992225" y="3543300"/>
            <a:ext cx="4562475" cy="33337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52925" y="3476625"/>
            <a:ext cx="1809750" cy="17621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05425" y="2066925"/>
            <a:ext cx="9029700" cy="61912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42975" y="838200"/>
            <a:ext cx="12461463" cy="8382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950" b="1">
                <a:solidFill>
                  <a:srgbClr val="0A16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Two-Pillar Defense Strategy</a:t>
            </a:r>
            <a:endParaRPr lang="en-US" sz="4950" b="1">
              <a:solidFill>
                <a:srgbClr val="0A1633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2500" y="2658904"/>
            <a:ext cx="5878830" cy="59721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450" b="1">
                <a:solidFill>
                  <a:srgbClr val="3C4C64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Pillar 1: High Protein Intake</a:t>
            </a:r>
            <a:endParaRPr lang="en-US" sz="3450" b="1">
              <a:solidFill>
                <a:srgbClr val="3C4C64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125" y="6943249"/>
            <a:ext cx="5348478" cy="126777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Think of protein as the raw bricks needed to maintain your body’s structure.</a:t>
            </a:r>
            <a:endParaRPr lang="en-US" sz="24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92150" y="2659380"/>
            <a:ext cx="5916930" cy="58674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450" b="1">
                <a:solidFill>
                  <a:srgbClr val="3C4C64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Pillar 2: Mechanical Tension</a:t>
            </a:r>
            <a:endParaRPr lang="en-US" sz="3450" b="1">
              <a:solidFill>
                <a:srgbClr val="3C4C64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887450" y="6950869"/>
            <a:ext cx="5310378" cy="13096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Resistance training acts as the signal to the construction crew to keep the walls standing.</a:t>
            </a:r>
            <a:endParaRPr lang="en-US" sz="24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791200" y="8967788"/>
            <a:ext cx="4233196" cy="5238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75" b="1">
                <a:solidFill>
                  <a:srgbClr val="0A16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Consequence:</a:t>
            </a:r>
            <a:endParaRPr lang="en-US" sz="3075" b="1">
              <a:solidFill>
                <a:srgbClr val="0A1633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53100" y="9475470"/>
            <a:ext cx="10890885" cy="8801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Without both bricks (protein) and the signal (exercise), the body strips its own infrastructure to survive the perceived famine.</a:t>
            </a:r>
            <a:endParaRPr lang="en-US" sz="26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7275" y="3971925"/>
            <a:ext cx="5762625" cy="524827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24775" y="3600450"/>
            <a:ext cx="10067925" cy="415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782675" y="1200150"/>
            <a:ext cx="5867400" cy="29527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47750" y="935831"/>
            <a:ext cx="13264896" cy="78581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650" b="1">
                <a:solidFill>
                  <a:srgbClr val="0F243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Pillar One: The Protein Prescription</a:t>
            </a:r>
            <a:endParaRPr lang="en-US" sz="4650" b="1">
              <a:solidFill>
                <a:srgbClr val="0F243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85850" y="1782128"/>
            <a:ext cx="14758606" cy="6076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Standard dietary guidelines are insufficient for rapid weight loss scenarios.</a:t>
            </a:r>
            <a:endParaRPr lang="en-US" sz="360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743825" y="3034665"/>
            <a:ext cx="11180064" cy="448437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6675" b="1">
                <a:solidFill>
                  <a:srgbClr val="36609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Formula:</a:t>
            </a:r>
            <a:r>
              <a:rPr lang="en-US" sz="66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0.7 to 1 gram of protein
per pound of your </a:t>
            </a:r>
            <a:r>
              <a:rPr lang="en-US" sz="66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GOAL</a:t>
            </a:r>
            <a:r>
              <a:rPr lang="en-US" sz="66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body weight daily.</a:t>
            </a:r>
            <a:endParaRPr lang="en-US" sz="66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791450" y="7995285"/>
            <a:ext cx="5026247" cy="54483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2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Example Calculation:</a:t>
            </a:r>
            <a:endParaRPr lang="en-US" sz="32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24850" y="8575834"/>
            <a:ext cx="5008436" cy="55530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– Goal Weight: 150 lbs</a:t>
            </a:r>
            <a:endParaRPr lang="en-US" sz="330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15325" y="9144476"/>
            <a:ext cx="8692420" cy="61817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6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– Daily Target: 105 – 150 grams of protein</a:t>
            </a:r>
            <a:endParaRPr lang="en-US" sz="36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725650" y="3876675"/>
            <a:ext cx="3800475" cy="29908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449050" y="3676650"/>
            <a:ext cx="2305050" cy="340042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67525" y="3609975"/>
            <a:ext cx="3562350" cy="34861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1550" y="930592"/>
            <a:ext cx="9178957" cy="17392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172542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Visualizing the Intake: The "30-Gram Rule"</a:t>
            </a:r>
            <a:endParaRPr lang="en-US" sz="5175" b="1">
              <a:solidFill>
                <a:srgbClr val="172542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0600" y="3411379"/>
            <a:ext cx="4933379" cy="227361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75" b="1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Challenge:</a:t>
            </a:r>
            <a:r>
              <a:rPr lang="en-US" sz="33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</a:t>
            </a:r>
            <a:r>
              <a:rPr lang="en-US" sz="33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High targets are difficult when appetite is suppressed.</a:t>
            </a:r>
            <a:endParaRPr lang="en-US" sz="337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0125" y="5974080"/>
            <a:ext cx="4857179" cy="226314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75" b="1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Solution:</a:t>
            </a:r>
            <a:r>
              <a:rPr lang="en-US" sz="33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</a:t>
            </a:r>
            <a:r>
              <a:rPr lang="en-US" sz="337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Ensure every main meal contains at least 30g of high-quality protein.</a:t>
            </a:r>
            <a:endParaRPr lang="en-US" sz="337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17423" y="7217093"/>
            <a:ext cx="3393377" cy="9010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62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palm-sized portion of chicken breast</a:t>
            </a:r>
            <a:endParaRPr lang="en-US" sz="262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72361" y="7216616"/>
            <a:ext cx="2424589" cy="91154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full scoop of whey isolate</a:t>
            </a:r>
            <a:endParaRPr lang="en-US" sz="2700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880747" y="3039428"/>
            <a:ext cx="1130903" cy="6076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30g</a:t>
            </a:r>
            <a:endParaRPr lang="en-US" sz="3600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734318" y="7235190"/>
            <a:ext cx="3572732" cy="5029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cup of Greek yogurt</a:t>
            </a:r>
            <a:endParaRPr lang="en-US" sz="3000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19900" y="8701088"/>
            <a:ext cx="2423446" cy="5238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75" b="1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Schedule:</a:t>
            </a:r>
            <a:endParaRPr lang="en-US" sz="3075" b="1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00850" y="9180671"/>
            <a:ext cx="11831193" cy="107918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225">
                <a:solidFill>
                  <a:srgbClr val="1E1E1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Spread across 3-4 distinct windows to maximize synthesis without fullness.</a:t>
            </a:r>
            <a:endParaRPr lang="en-US" sz="3225">
              <a:solidFill>
                <a:srgbClr val="1E1E1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62925" y="2895600"/>
            <a:ext cx="1796510" cy="8286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025">
                <a:solidFill>
                  <a:srgbClr val="11141A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30g</a:t>
            </a:r>
            <a:endParaRPr lang="en-US" sz="5025">
              <a:solidFill>
                <a:srgbClr val="11141A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144375" y="2933700"/>
            <a:ext cx="1677638" cy="7429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500">
                <a:solidFill>
                  <a:srgbClr val="161921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30g</a:t>
            </a:r>
            <a:endParaRPr lang="en-US" sz="4500">
              <a:solidFill>
                <a:srgbClr val="161921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429875" y="8867775"/>
            <a:ext cx="828675" cy="75247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48925" y="7810500"/>
            <a:ext cx="876300" cy="84772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15325" y="5495925"/>
            <a:ext cx="571500" cy="52387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915900" y="2400300"/>
            <a:ext cx="847725" cy="55245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96450" y="2295525"/>
            <a:ext cx="266700" cy="98107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896600" y="2266950"/>
            <a:ext cx="7543800" cy="56578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371600" y="2143125"/>
            <a:ext cx="6829425" cy="555307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420350" y="9667875"/>
            <a:ext cx="866775" cy="9715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831211" y="860108"/>
            <a:ext cx="13551789" cy="77533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575" b="1">
                <a:solidFill>
                  <a:srgbClr val="1018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Pillar Two: Defining “Resistance Training”</a:t>
            </a:r>
            <a:endParaRPr lang="en-US" sz="4575" b="1">
              <a:solidFill>
                <a:srgbClr val="10183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95450" y="7788593"/>
            <a:ext cx="6504051" cy="9010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25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Redefining the Gym:</a:t>
            </a: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No membership or complex machinery required.</a:t>
            </a:r>
            <a:endParaRPr lang="en-US" sz="25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53800" y="7789545"/>
            <a:ext cx="7475601" cy="8801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25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Mechanism:</a:t>
            </a: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Move the body against a force difficult enough to cause fatigue.</a:t>
            </a:r>
            <a:endParaRPr lang="en-US" sz="25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353800" y="8847296"/>
            <a:ext cx="7694676" cy="86963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25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Signal:</a:t>
            </a: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Sends a clear anabolic message: "This muscle is necessary for survival; do not eat it."</a:t>
            </a:r>
            <a:endParaRPr lang="en-US" sz="25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53800" y="9923145"/>
            <a:ext cx="7837551" cy="4610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25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Goal:</a:t>
            </a: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Tissue preservation, not calorie burning.</a:t>
            </a:r>
            <a:endParaRPr lang="en-US" sz="25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29200" y="10096500"/>
            <a:ext cx="638175" cy="4286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09700" y="2209800"/>
            <a:ext cx="7620000" cy="7848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09650" y="1073944"/>
            <a:ext cx="15144084" cy="8905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32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Move 1: The Chair Squat (Lower Body)</a:t>
            </a:r>
            <a:endParaRPr lang="en-US" sz="5325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144125" y="2875597"/>
            <a:ext cx="8494776" cy="12782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7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Why:</a:t>
            </a:r>
            <a:r>
              <a:rPr lang="en-US" sz="37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Targets the large muscles of the quads and glutes safely.</a:t>
            </a:r>
            <a:endParaRPr lang="en-US" sz="37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191750" y="4548188"/>
            <a:ext cx="2937796" cy="5238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Execution:</a:t>
            </a:r>
            <a:endParaRPr lang="en-US" sz="3075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96550" y="5116354"/>
            <a:ext cx="7451693" cy="59721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5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Stand in front of a sturdy chair.</a:t>
            </a:r>
            <a:endParaRPr lang="en-US" sz="35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87025" y="5688806"/>
            <a:ext cx="7870793" cy="120491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5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Sit back slowly until glutes barely touch the seat.</a:t>
            </a:r>
            <a:endParaRPr lang="en-US" sz="35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487025" y="6877050"/>
            <a:ext cx="8356568" cy="12573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5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Immediately stand back up without resting full weight.</a:t>
            </a:r>
            <a:endParaRPr lang="en-US" sz="35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53650" y="8079581"/>
            <a:ext cx="8638127" cy="120491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Target:</a:t>
            </a: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Repeat until legs feel a distinct burn.</a:t>
            </a:r>
            <a:endParaRPr lang="en-US" sz="360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5" y="6038850"/>
            <a:ext cx="4524375" cy="49244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05025" y="2543175"/>
            <a:ext cx="6353175" cy="688657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78000" y="9525"/>
            <a:ext cx="5172075" cy="492442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91650" y="8029575"/>
            <a:ext cx="1076325" cy="97155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67850" y="4791075"/>
            <a:ext cx="933450" cy="10096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467850" y="2505075"/>
            <a:ext cx="933450" cy="10096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28775" y="1082040"/>
            <a:ext cx="15185897" cy="9220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475" b="1">
                <a:solidFill>
                  <a:srgbClr val="0F172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Move 2: The Wall Push-Up (Upper Body)</a:t>
            </a:r>
            <a:endParaRPr lang="en-US" sz="5475" b="1">
              <a:solidFill>
                <a:srgbClr val="0F172A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439400" y="2686050"/>
            <a:ext cx="2039017" cy="6286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75" b="1">
                <a:solidFill>
                  <a:srgbClr val="0F172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Why:</a:t>
            </a:r>
            <a:endParaRPr lang="en-US" sz="3375" b="1">
              <a:solidFill>
                <a:srgbClr val="0F172A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29875" y="3301365"/>
            <a:ext cx="7345394" cy="113157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212529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Preserves chest, shoulders, and arms without floor strain.</a:t>
            </a:r>
            <a:endParaRPr lang="en-US" sz="3000">
              <a:solidFill>
                <a:srgbClr val="212529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77500" y="4974431"/>
            <a:ext cx="3286792" cy="57626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75" b="1">
                <a:solidFill>
                  <a:srgbClr val="0F172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Execution:</a:t>
            </a:r>
            <a:endParaRPr lang="en-US" sz="3375" b="1">
              <a:solidFill>
                <a:srgbClr val="0F172A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648950" y="5610225"/>
            <a:ext cx="6935819" cy="10477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212529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Stand an arm's length from a wall, palms flat.</a:t>
            </a:r>
            <a:endParaRPr lang="en-US" sz="3000">
              <a:solidFill>
                <a:srgbClr val="212529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48950" y="6606540"/>
            <a:ext cx="5964269" cy="5029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212529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Lower nose toward the wall.</a:t>
            </a:r>
            <a:endParaRPr lang="en-US" sz="3000">
              <a:solidFill>
                <a:srgbClr val="212529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29900" y="7079932"/>
            <a:ext cx="6307169" cy="5657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212529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Push back to starting position.</a:t>
            </a:r>
            <a:endParaRPr lang="en-US" sz="3000">
              <a:solidFill>
                <a:srgbClr val="212529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477500" y="8201977"/>
            <a:ext cx="3753517" cy="6076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375" b="1">
                <a:solidFill>
                  <a:srgbClr val="0F172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Progression:</a:t>
            </a:r>
            <a:endParaRPr lang="en-US" sz="3375" b="1">
              <a:solidFill>
                <a:srgbClr val="0F172A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439400" y="8849677"/>
            <a:ext cx="8507444" cy="6076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212529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Move feet further back to increase difficulty.</a:t>
            </a:r>
            <a:endParaRPr lang="en-US" sz="3000">
              <a:solidFill>
                <a:srgbClr val="212529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82275" y="9458325"/>
            <a:ext cx="1171575" cy="11620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44175" y="6076950"/>
            <a:ext cx="1362075" cy="242887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06075" y="4933950"/>
            <a:ext cx="1295400" cy="1066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9625" y="1685925"/>
            <a:ext cx="9210675" cy="916305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487025" y="2505075"/>
            <a:ext cx="1352550" cy="140017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415064" y="572929"/>
            <a:ext cx="14358461" cy="80676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800" b="1">
                <a:solidFill>
                  <a:srgbClr val="0B1C3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Move 3: The 'Grocery Carry' (Core &amp; Grip)</a:t>
            </a:r>
            <a:endParaRPr lang="en-US" sz="4800" b="1">
              <a:solidFill>
                <a:srgbClr val="0B1C38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572750" y="1898333"/>
            <a:ext cx="1811369" cy="5657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0B1C3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Why:</a:t>
            </a:r>
            <a:endParaRPr lang="en-US" sz="3000" b="1">
              <a:solidFill>
                <a:srgbClr val="0B1C38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982450" y="2738438"/>
            <a:ext cx="7299960" cy="9429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Functional full-body engagement (grip, core, posture).</a:t>
            </a:r>
            <a:endParaRPr lang="en-US" sz="26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72750" y="4176236"/>
            <a:ext cx="3087719" cy="53435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0B1C3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Execution:</a:t>
            </a:r>
            <a:endParaRPr lang="en-US" sz="3000" b="1">
              <a:solidFill>
                <a:srgbClr val="0B1C38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115800" y="5014436"/>
            <a:ext cx="7109460" cy="95345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Pick up two heavy objects (dumbbells, water jugs, loaded bags).</a:t>
            </a:r>
            <a:endParaRPr lang="en-US" sz="26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058650" y="6337935"/>
            <a:ext cx="6366510" cy="96393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Keep shoulders back and posture perfectly upright.</a:t>
            </a:r>
            <a:endParaRPr lang="en-US" sz="26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058650" y="7695248"/>
            <a:ext cx="3785235" cy="4400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Walk for distance.</a:t>
            </a:r>
            <a:endParaRPr lang="en-US" sz="26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01325" y="8740140"/>
            <a:ext cx="2401919" cy="5029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rgbClr val="0B1C3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Benefit:</a:t>
            </a:r>
            <a:endParaRPr lang="en-US" sz="3000" b="1">
              <a:solidFill>
                <a:srgbClr val="0B1C38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096750" y="9577388"/>
            <a:ext cx="5937885" cy="9429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Prevents the ‘slumped’ posture associated with weight loss.</a:t>
            </a:r>
            <a:endParaRPr lang="en-US" sz="26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77650" y="2352675"/>
            <a:ext cx="7096125" cy="77533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01200" y="4943475"/>
            <a:ext cx="800100" cy="8191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3450" y="4295775"/>
            <a:ext cx="866775" cy="8953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3450" y="2428875"/>
            <a:ext cx="866775" cy="79057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353675" y="6867525"/>
            <a:ext cx="733425" cy="87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676936" y="778669"/>
            <a:ext cx="11791664" cy="8905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325" b="1">
                <a:solidFill>
                  <a:srgbClr val="0D162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Composition Conclusion</a:t>
            </a:r>
            <a:endParaRPr lang="en-US" sz="5325" b="1">
              <a:solidFill>
                <a:srgbClr val="0D162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33550" y="2473643"/>
            <a:ext cx="9897427" cy="13201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900" b="1">
                <a:solidFill>
                  <a:srgbClr val="0D162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Shift:</a:t>
            </a:r>
            <a:r>
              <a:rPr lang="en-US" sz="39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Move from "weight loss" to "fat reduction".</a:t>
            </a:r>
            <a:endParaRPr lang="en-US" sz="390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14500" y="4396264"/>
            <a:ext cx="10021252" cy="135159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900" b="1">
                <a:solidFill>
                  <a:srgbClr val="0D162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Routine:</a:t>
            </a:r>
            <a:r>
              <a:rPr lang="en-US" sz="39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Daily protein (0.7-1g/lb goal weight) + 3 movements (3-4x/week).</a:t>
            </a:r>
            <a:endParaRPr lang="en-US" sz="390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71600" y="6319838"/>
            <a:ext cx="10068877" cy="13620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9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lang="en-US" sz="3900" b="1">
                <a:solidFill>
                  <a:srgbClr val="0D162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Result:</a:t>
            </a:r>
            <a:r>
              <a:rPr lang="en-US" sz="39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A leaner, stronger version of yourself—not just a smaller, softer one.</a:t>
            </a:r>
            <a:endParaRPr lang="en-US" sz="390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8410575"/>
            <a:ext cx="8788908" cy="6286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7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Avoid the deflation. Feed the muscle.</a:t>
            </a:r>
            <a:endParaRPr lang="en-US" sz="37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EFFBFF"/>
      </a:lt1>
      <a:dk2>
        <a:srgbClr val="002F40"/>
      </a:dk2>
      <a:lt2>
        <a:srgbClr val="FFFFFF"/>
      </a:lt2>
      <a:accent1>
        <a:srgbClr val="3045FD"/>
      </a:accent1>
      <a:accent2>
        <a:srgbClr val="0085FF"/>
      </a:accent2>
      <a:accent3>
        <a:srgbClr val="2947E8"/>
      </a:accent3>
      <a:accent4>
        <a:srgbClr val="3CD6DF"/>
      </a:accent4>
      <a:accent5>
        <a:srgbClr val="73DDE3"/>
      </a:accent5>
      <a:accent6>
        <a:srgbClr val="FFC67C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3163</Words>
  <Application>WPS 演示</Application>
  <PresentationFormat>宽屏</PresentationFormat>
  <Paragraphs>140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黄启洲</cp:lastModifiedBy>
  <cp:revision>3</cp:revision>
  <dcterms:created xsi:type="dcterms:W3CDTF">2026-01-05T05:54:51Z</dcterms:created>
  <dcterms:modified xsi:type="dcterms:W3CDTF">2026-01-05T05:54:51Z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7CBC1DF50BD6E8462B525B69D4FA3BB2_42</vt:lpwstr>
  </property>
  <property fmtid="{D5CDD505-2E9C-101B-9397-08002B2CF9AE}" pid="3" name="KSOProductBuildVer">
    <vt:lpwstr>2052-7.5.0.8993</vt:lpwstr>
  </property>
</Properties>
</file>